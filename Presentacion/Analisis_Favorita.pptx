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e5f717b95145cc" /><Relationship Type="http://schemas.openxmlformats.org/officeDocument/2006/relationships/extended-properties" Target="/docProps/app.xml" Id="R42648eb8274f497b" /><Relationship Type="http://schemas.openxmlformats.org/officeDocument/2006/relationships/officeDocument" Target="/ppt/presentation.xml" Id="R403a2ed65c424c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f7d13b945c4688"/>
  </p:sldMasterIdLst>
  <p:notesMasterIdLst>
    <p:notesMasterId xmlns:r="http://schemas.openxmlformats.org/officeDocument/2006/relationships" r:id="R75af89b9e0ac46eb"/>
  </p:notesMasterIdLst>
  <p:sldIdLst>
    <p:sldId xmlns:r="http://schemas.openxmlformats.org/officeDocument/2006/relationships" id="256" r:id="R697160505b214099"/>
    <p:sldId xmlns:r="http://schemas.openxmlformats.org/officeDocument/2006/relationships" id="257" r:id="Rb5039089ffe44593"/>
    <p:sldId xmlns:r="http://schemas.openxmlformats.org/officeDocument/2006/relationships" id="258" r:id="Ra8ff1086ba0e4e34"/>
    <p:sldId xmlns:r="http://schemas.openxmlformats.org/officeDocument/2006/relationships" id="259" r:id="R2990bc35d36e49c1"/>
    <p:sldId xmlns:r="http://schemas.openxmlformats.org/officeDocument/2006/relationships" id="260" r:id="R8fd0dee62f2447db"/>
    <p:sldId xmlns:r="http://schemas.openxmlformats.org/officeDocument/2006/relationships" id="261" r:id="R8b9d2cb3c3fc485b"/>
    <p:sldId xmlns:r="http://schemas.openxmlformats.org/officeDocument/2006/relationships" id="262" r:id="R805af42b5a6c4f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66d0e8f5eb4b83" /><Relationship Type="http://schemas.openxmlformats.org/officeDocument/2006/relationships/slideMaster" Target="/ppt/slideMasters/slideMaster1.xml" Id="Ra0f7d13b945c4688" /><Relationship Type="http://schemas.openxmlformats.org/officeDocument/2006/relationships/notesMaster" Target="/ppt/notesMasters/notesMaster1.xml" Id="R75af89b9e0ac46eb" /><Relationship Type="http://schemas.openxmlformats.org/officeDocument/2006/relationships/presProps" Target="/ppt/presProps.xml" Id="Rd6db8281e19144bd" /><Relationship Type="http://schemas.openxmlformats.org/officeDocument/2006/relationships/tableStyles" Target="/ppt/tableStyles.xml" Id="Rab246b04787c42b2" /><Relationship Type="http://schemas.openxmlformats.org/officeDocument/2006/relationships/slide" Target="/ppt/slides/slide1.xml" Id="R697160505b214099" /><Relationship Type="http://schemas.openxmlformats.org/officeDocument/2006/relationships/slide" Target="/ppt/slides/slide2.xml" Id="Rb5039089ffe44593" /><Relationship Type="http://schemas.openxmlformats.org/officeDocument/2006/relationships/slide" Target="/ppt/slides/slide3.xml" Id="Ra8ff1086ba0e4e34" /><Relationship Type="http://schemas.openxmlformats.org/officeDocument/2006/relationships/slide" Target="/ppt/slides/slide4.xml" Id="R2990bc35d36e49c1" /><Relationship Type="http://schemas.openxmlformats.org/officeDocument/2006/relationships/slide" Target="/ppt/slides/slide5.xml" Id="R8fd0dee62f2447db" /><Relationship Type="http://schemas.openxmlformats.org/officeDocument/2006/relationships/slide" Target="/ppt/slides/slide6.xml" Id="R8b9d2cb3c3fc485b" /><Relationship Type="http://schemas.openxmlformats.org/officeDocument/2006/relationships/slide" Target="/ppt/slides/slide7.xml" Id="R805af42b5a6c4f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bb480dea6f4a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fec564b0ea4271" /><Relationship Type="http://schemas.openxmlformats.org/officeDocument/2006/relationships/notesMaster" Target="/ppt/notesMasters/notesMaster1.xml" Id="Rdd84086adca94d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2fdca5d6c244832" /><Relationship Type="http://schemas.openxmlformats.org/officeDocument/2006/relationships/notesMaster" Target="/ppt/notesMasters/notesMaster1.xml" Id="R9ee7d7a19e704b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dcc549fc1b4b34" /><Relationship Type="http://schemas.openxmlformats.org/officeDocument/2006/relationships/notesMaster" Target="/ppt/notesMasters/notesMaster1.xml" Id="Rbe963b91360040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738d411430416d" /><Relationship Type="http://schemas.openxmlformats.org/officeDocument/2006/relationships/notesMaster" Target="/ppt/notesMasters/notesMaster1.xml" Id="R85638b9a8e7143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e284f51c5a41a3" /><Relationship Type="http://schemas.openxmlformats.org/officeDocument/2006/relationships/notesMaster" Target="/ppt/notesMasters/notesMaster1.xml" Id="Rcb5995dd79c741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a37af21e52b4a6b" /><Relationship Type="http://schemas.openxmlformats.org/officeDocument/2006/relationships/notesMaster" Target="/ppt/notesMasters/notesMaster1.xml" Id="R34bdfe88ff4145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5c7aed7f6243c7" /><Relationship Type="http://schemas.openxmlformats.org/officeDocument/2006/relationships/notesMaster" Target="/ppt/notesMasters/notesMaster1.xml" Id="R5f453144721f422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original: https://www.kaggle.com/competitions/store-sales-time-series-forecasting/data</a:t>
            </a:r>
          </a:p>
          <a:p xmlns:a="http://schemas.openxmlformats.org/drawingml/2006/main">
            <a:r>
              <a:t>Copia: https://github.com/kartikajls/Store-Sales-Time-Series-Forecasting/tree/c6eac8b828c7c8231320dafbe0257f3466005fbe</a:t>
            </a:r>
          </a:p>
          <a:p xmlns:a="http://schemas.openxmlformats.org/drawingml/2006/main">
            <a:r>
              <a:t>Filtro: tienda 44, 2017-05-22 a 2017-08-13. Cálculos: RNN_LSTM_Stock.ipynb y las tablas y gráficos del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Guion: Son datos históricos reales. El local está anonimizado como tienda 44. No se conoce su dirección ni la marca comercial concreta. Stock será la cobertura estimada de demanda.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original: https://www.kaggle.com/competitions/store-sales-time-series-forecasting/data</a:t>
            </a:r>
          </a:p>
          <a:p xmlns:a="http://schemas.openxmlformats.org/drawingml/2006/main">
            <a:r>
              <a:t>Copia: https://github.com/kartikajls/Store-Sales-Time-Series-Forecasting/tree/c6eac8b828c7c8231320dafbe0257f3466005fbe</a:t>
            </a:r>
          </a:p>
          <a:p xmlns:a="http://schemas.openxmlformats.org/drawingml/2006/main">
            <a:r>
              <a:t>Filtro: tienda 44, 2017-05-22 a 2017-08-13. Cálculos: RNN_LSTM_Stock.ipynb y las tablas y gráficos del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Guion: Bebidas suma 895.564 y frutas/verduras 836.009,774 en la escala del origen. Esto no permite concluir qué familia factura más dinero. PRODUCE incluye frutas y verduras.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original: https://www.kaggle.com/competitions/store-sales-time-series-forecasting/data</a:t>
            </a:r>
          </a:p>
          <a:p xmlns:a="http://schemas.openxmlformats.org/drawingml/2006/main">
            <a:r>
              <a:t>Copia: https://github.com/kartikajls/Store-Sales-Time-Series-Forecasting/tree/c6eac8b828c7c8231320dafbe0257f3466005fbe</a:t>
            </a:r>
          </a:p>
          <a:p xmlns:a="http://schemas.openxmlformats.org/drawingml/2006/main">
            <a:r>
              <a:t>Filtro: tienda 44, 2017-05-22 a 2017-08-13. Cálculos: RNN_LSTM_Stock.ipynb y las tablas y gráficos del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Guion: Bebidas y lácteos alcanzan el máximo en la semana 2. Las otras cuatro categorías, en la semana 6. Las semanas contienen siete días completos. Cada gráfico usa una escala vertical propia.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original: https://www.kaggle.com/competitions/store-sales-time-series-forecasting/data</a:t>
            </a:r>
          </a:p>
          <a:p xmlns:a="http://schemas.openxmlformats.org/drawingml/2006/main">
            <a:r>
              <a:t>Copia: https://github.com/kartikajls/Store-Sales-Time-Series-Forecasting/tree/c6eac8b828c7c8231320dafbe0257f3466005fbe</a:t>
            </a:r>
          </a:p>
          <a:p xmlns:a="http://schemas.openxmlformats.org/drawingml/2006/main">
            <a:r>
              <a:t>Filtro: tienda 44, 2017-05-22 a 2017-08-13. Cálculos: RNN_LSTM_Stock.ipynb y las tablas y gráficos del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Guion: El índice cien corresponde al promedio diario de cada categoría. Domingo lidera en bebidas, lácteos, frutas/verduras, panadería y limpieza. Son asociaciones descriptivas. No se prueba que los descuentos expliquen esos picos.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original: https://www.kaggle.com/competitions/store-sales-time-series-forecasting/data</a:t>
            </a:r>
          </a:p>
          <a:p xmlns:a="http://schemas.openxmlformats.org/drawingml/2006/main">
            <a:r>
              <a:t>Copia: https://github.com/kartikajls/Store-Sales-Time-Series-Forecasting/tree/c6eac8b828c7c8231320dafbe0257f3466005fbe</a:t>
            </a:r>
          </a:p>
          <a:p xmlns:a="http://schemas.openxmlformats.org/drawingml/2006/main">
            <a:r>
              <a:t>Filtro: tienda 44, 2017-05-22 a 2017-08-13. Cálculos: RNN_LSTM_Stock.ipynb y las tablas y gráficos del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Guion: Comparamos semanas 9 a 12 con semanas 1 a 4. Panadería cae 10,3%, carnes 6,7% y frutas/verduras 5,7%. Esto no demuestra una tendencia nacional ni causalidad de las promociones.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original: https://www.kaggle.com/competitions/store-sales-time-series-forecasting/data</a:t>
            </a:r>
          </a:p>
          <a:p xmlns:a="http://schemas.openxmlformats.org/drawingml/2006/main">
            <a:r>
              <a:t>Copia: https://github.com/kartikajls/Store-Sales-Time-Series-Forecasting/tree/c6eac8b828c7c8231320dafbe0257f3466005fbe</a:t>
            </a:r>
          </a:p>
          <a:p xmlns:a="http://schemas.openxmlformats.org/drawingml/2006/main">
            <a:r>
              <a:t>Filtro: tienda 44, 2017-05-22 a 2017-08-13. Cálculos: RNN_LSTM_Stock.ipynb y las tablas y gráficos del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Guion: Conservamos la arquitectura original y entrenamos por separado cada categoría. Cada entrada contiene seis días de cuatro variables. La red mejora solo en bebidas en esta ejecución. El dataset es pequeño y los resultados pueden variar. Mostramos la curva de prueba como en el original, sin seleccionar épocas según ella.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original: https://www.kaggle.com/competitions/store-sales-time-series-forecasting/data</a:t>
            </a:r>
          </a:p>
          <a:p xmlns:a="http://schemas.openxmlformats.org/drawingml/2006/main">
            <a:r>
              <a:t>Copia: https://github.com/kartikajls/Store-Sales-Time-Series-Forecasting/tree/c6eac8b828c7c8231320dafbe0257f3466005fbe</a:t>
            </a:r>
          </a:p>
          <a:p xmlns:a="http://schemas.openxmlformats.org/drawingml/2006/main">
            <a:r>
              <a:t>Filtro: tienda 44, 2017-05-22 a 2017-08-13. Cálculos: RNN_LSTM_Stock.ipynb y las tablas y gráficos del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Guion: predecir(fecha_fin="2017-07-21", categoria="BEVERAGES") realiza una predicción individual. predecir_categorias(["BEVERAGES", "DAIRY", "PRODUCE"]) entrega una tabla. Las cifras son pronósticos para el 14 de agosto, no inventario medido. No se convierten directamente en órdenes de compra sin conocer existencias.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728e1d126646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3606113a5149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09e04f4f724d8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657016b42c447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5a672a71c349e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8760768c7a40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5F66ABD-4BA7-420B-9ABB-0F861147EB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A9EF4AC-C815-48DA-9C72-FC97711E818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76FEEBE-8726-48C6-AD77-5B63A3C6CB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85328C3-4C9A-48E4-8247-22EAD151E3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2FC9CB5-B232-4562-97AA-3F934F0BFA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C64B446-86E3-4889-A621-16D618C2FA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3D08218-BE19-4246-8D35-4E18B6D28A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A98B1D8-4CFD-4BE4-8002-EBF12FC6BB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9DC844C-0806-410C-A5B0-5A98F74E64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BE1378D-686C-47E4-B974-2FFE40A72E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1f4be3b20a4043" /><Relationship Type="http://schemas.openxmlformats.org/officeDocument/2006/relationships/slideLayout" Target="/ppt/slideLayouts/slideLayout1.xml" Id="R9a72b6acd2bf4029" /><Relationship Type="http://schemas.openxmlformats.org/officeDocument/2006/relationships/slideLayout" Target="/ppt/slideLayouts/slideLayout2.xml" Id="Rdf78e3e0404b4302" /><Relationship Type="http://schemas.openxmlformats.org/officeDocument/2006/relationships/slideLayout" Target="/ppt/slideLayouts/slideLayout3.xml" Id="Rc1870a4a9c10430c" /><Relationship Type="http://schemas.openxmlformats.org/officeDocument/2006/relationships/slideLayout" Target="/ppt/slideLayouts/slideLayout4.xml" Id="R4fb5a5fbf3314cef" /><Relationship Type="http://schemas.openxmlformats.org/officeDocument/2006/relationships/slideLayout" Target="/ppt/slideLayouts/slideLayout5.xml" Id="Rbcb6f2f30c134503" /><Relationship Type="http://schemas.openxmlformats.org/officeDocument/2006/relationships/slideLayout" Target="/ppt/slideLayouts/slideLayout6.xml" Id="R8a5383d64ae540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72b6acd2bf4029"/>
    <p:sldLayoutId xmlns:r="http://schemas.openxmlformats.org/officeDocument/2006/relationships" id="2147483650" r:id="Rdf78e3e0404b4302"/>
    <p:sldLayoutId xmlns:r="http://schemas.openxmlformats.org/officeDocument/2006/relationships" id="2147483651" r:id="Rc1870a4a9c10430c"/>
    <p:sldLayoutId xmlns:r="http://schemas.openxmlformats.org/officeDocument/2006/relationships" id="2147483652" r:id="R4fb5a5fbf3314cef"/>
    <p:sldLayoutId xmlns:r="http://schemas.openxmlformats.org/officeDocument/2006/relationships" id="2147483653" r:id="Rbcb6f2f30c134503"/>
    <p:sldLayoutId xmlns:r="http://schemas.openxmlformats.org/officeDocument/2006/relationships" id="2147483654" r:id="R8a5383d64ae540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c04e0e3dc24b19" /><Relationship Type="http://schemas.openxmlformats.org/officeDocument/2006/relationships/notesSlide" Target="/ppt/notesSlides/notesSlide1.xml" Id="Rd6e09b868bf042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d35271c8c0424b" /><Relationship Type="http://schemas.openxmlformats.org/officeDocument/2006/relationships/chart" Target="/ppt/slides/charts/chart1.xml" Id="Rebdc510e06bc4b5f" /><Relationship Type="http://schemas.openxmlformats.org/officeDocument/2006/relationships/notesSlide" Target="/ppt/notesSlides/notesSlide2.xml" Id="Re63e0e4da93e40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26c4dd5b544665" /><Relationship Type="http://schemas.openxmlformats.org/officeDocument/2006/relationships/image" Target="/ppt/media/image.png" Id="R4b2b54e1ff8f4826" /><Relationship Type="http://schemas.openxmlformats.org/officeDocument/2006/relationships/notesSlide" Target="/ppt/notesSlides/notesSlide3.xml" Id="Rc4070ae8cbd744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01e14e60394731" /><Relationship Type="http://schemas.openxmlformats.org/officeDocument/2006/relationships/image" Target="/ppt/media/image2.png" Id="R0789fd2aa93d410e" /><Relationship Type="http://schemas.openxmlformats.org/officeDocument/2006/relationships/notesSlide" Target="/ppt/notesSlides/notesSlide4.xml" Id="Ra700061b3c6342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a362b702444087" /><Relationship Type="http://schemas.openxmlformats.org/officeDocument/2006/relationships/chart" Target="/ppt/slides/charts/chart2.xml" Id="R50eb5fb6d1d345f5" /><Relationship Type="http://schemas.openxmlformats.org/officeDocument/2006/relationships/notesSlide" Target="/ppt/notesSlides/notesSlide5.xml" Id="R436424eb7d9e4b4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0817693a404054" /><Relationship Type="http://schemas.openxmlformats.org/officeDocument/2006/relationships/image" Target="/ppt/media/image3.png" Id="Re2062c32b05f4839" /><Relationship Type="http://schemas.openxmlformats.org/officeDocument/2006/relationships/notesSlide" Target="/ppt/notesSlides/notesSlide6.xml" Id="Rb9000d6d323044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f0ede3b50142ea" /><Relationship Type="http://schemas.openxmlformats.org/officeDocument/2006/relationships/hyperlink" Target="https://www.kaggle.com/competitions/store-sales-time-series-forecasting/data" TargetMode="External" Id="R0c5e34c7a0244d5d" /><Relationship Type="http://schemas.openxmlformats.org/officeDocument/2006/relationships/notesSlide" Target="/ppt/notesSlides/notesSlide7.xml" Id="Rc13a0bfb2d5441b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varyColors val="0"/>
        <c:ser>
          <c:idx val="0"/>
          <c:order val="0"/>
          <c:tx>
            <c:v>Cantidad vendida</c:v>
          </c:tx>
          <c:spPr>
            <a:solidFill xmlns:a="http://schemas.openxmlformats.org/drawingml/2006/main">
              <a:srgbClr val="B91C35"/>
            </a:solidFill>
          </c:spPr>
          <c:invertIfNegative val="0"/>
          <c:cat>
            <c:strRef>
              <c:f>'Chart Data'!$A$2:$A$7</c:f>
              <c:strCache>
                <c:ptCount val="6"/>
                <c:pt idx="0">
                  <c:v>Bebidas</c:v>
                </c:pt>
                <c:pt idx="1">
                  <c:v>Lácteos</c:v>
                </c:pt>
                <c:pt idx="2">
                  <c:v>Frutas y verduras</c:v>
                </c:pt>
                <c:pt idx="3">
                  <c:v>Panadería</c:v>
                </c:pt>
                <c:pt idx="4">
                  <c:v>Carnes</c:v>
                </c:pt>
                <c:pt idx="5">
                  <c:v>Limpieza</c:v>
                </c:pt>
              </c:strCache>
            </c:strRef>
          </c:cat>
          <c:val>
            <c:numRef>
              <c:f>'Chart Data'!$B$2:$B$7</c:f>
              <c:numCache>
                <c:formatCode>#,##0</c:formatCode>
                <c:ptCount val="6"/>
                <c:pt idx="0">
                  <c:v>895564</c:v>
                </c:pt>
                <c:pt idx="1">
                  <c:v>227972</c:v>
                </c:pt>
                <c:pt idx="2">
                  <c:v>836009.774</c:v>
                </c:pt>
                <c:pt idx="3">
                  <c:v>147545.951</c:v>
                </c:pt>
                <c:pt idx="4">
                  <c:v>83128.19506</c:v>
                </c:pt>
                <c:pt idx="5">
                  <c:v>226405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202D40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varyColors val="0"/>
        <c:ser>
          <c:idx val="0"/>
          <c:order val="0"/>
          <c:tx>
            <c:v>Variación</c:v>
          </c:tx>
          <c:spPr>
            <a:solidFill xmlns:a="http://schemas.openxmlformats.org/drawingml/2006/main">
              <a:srgbClr val="B91C35"/>
            </a:solidFill>
          </c:spPr>
          <c:invertIfNegative val="0"/>
          <c:dPt>
            <c:idx val="5"/>
            <c:invertIfNegative val="0"/>
            <c:spPr>
              <a:solidFill xmlns:a="http://schemas.openxmlformats.org/drawingml/2006/main">
                <a:srgbClr val="28706C"/>
              </a:solidFill>
            </c:spPr>
          </c:dPt>
          <c:cat>
            <c:strRef>
              <c:f>'Chart Data'!$A$2:$A$7</c:f>
              <c:strCache>
                <c:ptCount val="6"/>
                <c:pt idx="0">
                  <c:v>Bebidas</c:v>
                </c:pt>
                <c:pt idx="1">
                  <c:v>Lácteos</c:v>
                </c:pt>
                <c:pt idx="2">
                  <c:v>Frutas y verduras</c:v>
                </c:pt>
                <c:pt idx="3">
                  <c:v>Panadería</c:v>
                </c:pt>
                <c:pt idx="4">
                  <c:v>Carnes</c:v>
                </c:pt>
                <c:pt idx="5">
                  <c:v>Limpieza</c:v>
                </c:pt>
              </c:strCache>
            </c:strRef>
          </c:cat>
          <c:val>
            <c:numRef>
              <c:f>'Chart Data'!$B$2:$B$7</c:f>
              <c:numCache>
                <c:formatCode>0.0%</c:formatCode>
                <c:ptCount val="6"/>
                <c:pt idx="0">
                  <c:v>0.899871</c:v>
                </c:pt>
                <c:pt idx="1">
                  <c:v>0.875548</c:v>
                </c:pt>
                <c:pt idx="2">
                  <c:v>0.942869</c:v>
                </c:pt>
                <c:pt idx="3">
                  <c:v>0.896573</c:v>
                </c:pt>
                <c:pt idx="4">
                  <c:v>0.932879</c:v>
                </c:pt>
                <c:pt idx="5">
                  <c:v>1.013995</c:v>
                </c:pt>
              </c:numCache>
            </c:numRef>
          </c:val>
        </c:ser>
        <c:dLbls>
          <c:numFmt formatCode="0.0%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202D40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b"/>
        <c:numFmt formatCode="0%"/>
        <c:majorTickMark val="none"/>
        <c:minorTickMark val="none"/>
        <c:tickLblPos val="nextTo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38AB4-482E-4D03-AA60-22B9553A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44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Ventas y stock estimado en un supermercado de Ecuador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6B2D5E-048C-4683-A952-2BEC0FD9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1/7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E89E0-FC5D-4A43-8C89-3A390719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10572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B91C35"/>
                </a:solidFill>
                <a:latin typeface="Arial"/>
                <a:ea typeface="Arial"/>
                <a:cs typeface="Arial"/>
              </a:rPr>
              <a:t>Corporación Favorita</a:t>
            </a:r>
          </a:p>
          <a:p xmlns:a="http://schemas.openxmlformats.org/drawingml/2006/main">
            <a:pPr>
              <a:defRPr sz="2850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B91C35"/>
                </a:solidFill>
                <a:latin typeface="Arial"/>
                <a:ea typeface="Arial"/>
                <a:cs typeface="Arial"/>
              </a:rPr>
              <a:t>Tienda 44, Quito, Pichincha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C95920-0BFC-452D-894E-4A7C0689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12 semanas completas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CA452-F0FE-4896-BC51-1574C94A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22 de mayo al 13 de agosto de 2017</a:t>
            </a:r>
          </a:p>
          <a:p xmlns:a="http://schemas.openxmlformats.org/drawingml/2006/main">
            <a:pPr>
              <a:defRPr sz="21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2.772 registros reales de 33 familias de productos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0932B-2F9B-4C74-A19A-F76D2C2A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006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Análisis de seis categorías y predicción de demanda con la LSTM del notebook original.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E8209-CD8A-44AA-AFE7-50B3715F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3887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Fuente: Kaggle, Store Sales – Time Series Forecasting. Datos históricos.</a:t>
            </a:r>
          </a:p>
        </p:txBody>
      </p:sp>
    </p:spTree>
    <p:extLst>
      <p:ext uri="{BB962C8B-B14F-4D97-AF65-F5344CB8AC3E}">
        <p14:creationId xmlns:p14="http://schemas.microsoft.com/office/powerpoint/2010/main" val="2991517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C6C2D1-09DA-440A-979A-C72325B6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44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Bebidas y frutas/verduras lideran en cantidades reportadas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AE6C04-FB60-4DF6-93C5-7138A933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Comparación de las seis categorías seleccionadas durante las 12 semanas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4536B-A741-4F13-B05C-CAEDA503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2/7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B715561D-0521-4E33-A76B-41C8CF770A6D}"/>
              </a:ext>
            </a:extLst>
          </p:cNvPr>
          <p:cNvGraphicFramePr/>
          <p:nvPr/>
        </p:nvGraphicFramePr>
        <p:xfrm>
          <a:off xmlns:a="http://schemas.openxmlformats.org/drawingml/2006/main" x="428625" y="1924050"/>
          <a:ext xmlns:a="http://schemas.openxmlformats.org/drawingml/2006/main" cx="10858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bdc510e06bc4b5f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BDA472-9B0C-4842-85DF-2F808452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293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sales mide cantidades vendidas, con fracciones en productos por peso.</a:t>
            </a:r>
          </a:p>
          <a:p xmlns:a="http://schemas.openxmlformats.org/drawingml/2006/main">
            <a: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Los totales combinan unidades entre familias y no representan dólares.</a:t>
            </a:r>
          </a:p>
        </p:txBody>
      </p:sp>
    </p:spTree>
    <p:extLst>
      <p:ext uri="{BB962C8B-B14F-4D97-AF65-F5344CB8AC3E}">
        <p14:creationId xmlns:p14="http://schemas.microsoft.com/office/powerpoint/2010/main" val="9322802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F0CBE9-7C45-44C2-A87B-F9B0EDC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44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Cada categoría muestra una evolución semanal diferente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83AD55-45AA-417C-A9E5-B7A017E7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Cada punto contiene una semana completa, de lunes a domingo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389763-55C9-4536-89D2-32C98915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3/7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C5863-E2A7-401B-89C9-446EA527C6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2b54e1ff8f4826"/>
          <a:stretch xmlns:a="http://schemas.openxmlformats.org/drawingml/2006/main"/>
        </p:blipFill>
        <p:spPr>
          <a:xfrm xmlns:a="http://schemas.openxmlformats.org/drawingml/2006/main">
            <a:off x="1885950" y="1809750"/>
            <a:ext cx="8343900" cy="4171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4B0C0-059F-437E-BE73-F9C82656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055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Semanas 1–4: 22/05–18/06. Semanas 9–12: 17/07–13/08. Las escalas verticales cambian por categoría.</a:t>
            </a:r>
          </a:p>
        </p:txBody>
      </p:sp>
    </p:spTree>
    <p:extLst>
      <p:ext uri="{BB962C8B-B14F-4D97-AF65-F5344CB8AC3E}">
        <p14:creationId xmlns:p14="http://schemas.microsoft.com/office/powerpoint/2010/main" val="1757809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27C25-213A-4E02-A01A-698D2487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44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El domingo tiene el mayor promedio en cinco categorías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ACEE44-D1C1-43AF-9F77-1069F0C8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Carnes alcanza su mayor promedio el viernes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6F4DD-8745-45A7-B1D9-291DAA78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4/7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38BCC-1A90-475A-8BE4-004206B027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9fd2aa93d410e"/>
          <a:stretch xmlns:a="http://schemas.openxmlformats.org/drawingml/2006/main"/>
        </p:blipFill>
        <p:spPr>
          <a:xfrm xmlns:a="http://schemas.openxmlformats.org/drawingml/2006/main">
            <a:off x="1246187" y="1885950"/>
            <a:ext cx="9499600" cy="3886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1949BD-FD4C-445A-AB63-53CACC32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483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Bebidas el domingo: +46,6% sobre su promedio diario. Carnes el viernes: +67,6%.</a:t>
            </a:r>
          </a:p>
        </p:txBody>
      </p:sp>
    </p:spTree>
    <p:extLst>
      <p:ext uri="{BB962C8B-B14F-4D97-AF65-F5344CB8AC3E}">
        <p14:creationId xmlns:p14="http://schemas.microsoft.com/office/powerpoint/2010/main" val="15295536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BBA9F4-D41F-4DA2-BA36-A25F0C3B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44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Cinco categorías venden menos al final del periodo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1E6660-9E73-4525-B186-71EB6BFC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Últimas cuatro semanas frente a las primeras cuatro (base = 100%)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8AC353-BFFB-4C1A-ADD8-9AA116B5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5/7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CC5E8494-BC50-42F6-B088-C14FDF0AD96B}"/>
              </a:ext>
            </a:extLst>
          </p:cNvPr>
          <p:cNvGraphicFramePr/>
          <p:nvPr/>
        </p:nvGraphicFramePr>
        <p:xfrm>
          <a:off xmlns:a="http://schemas.openxmlformats.org/drawingml/2006/main" x="523875" y="1924050"/>
          <a:ext xmlns:a="http://schemas.openxmlformats.org/drawingml/2006/main" cx="10668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eb5fb6d1d345f5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F8504-62B3-4156-9202-2CEA6EB8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57850"/>
            <a:ext cx="1066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Lácteos cae 12,4% y bebidas 10,0%. Limpieza aumenta 1,4%.</a:t>
            </a:r>
          </a:p>
          <a:p xmlns:a="http://schemas.openxmlformats.org/drawingml/2006/main">
            <a:pPr>
              <a:defRPr sz="18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El resultado describe este local y este periodo, sin demostrar una causa.</a:t>
            </a:r>
          </a:p>
        </p:txBody>
      </p:sp>
    </p:spTree>
    <p:extLst>
      <p:ext uri="{BB962C8B-B14F-4D97-AF65-F5344CB8AC3E}">
        <p14:creationId xmlns:p14="http://schemas.microsoft.com/office/powerpoint/2010/main" val="14429179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AD1A6-A263-4143-80F6-D0476622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44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La LSTM mejora en bebidas, con límites en otras categorías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1BF60-E8FE-46EB-8A38-62A2D49D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Prueba: últimas cuatro semanas. Menor RMSE indica menos error.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C490FE-1CC0-4963-8EFD-E16A9128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6/7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B0FA2-8ABE-4BA8-A60D-636D47B7D1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062c32b05f4839"/>
          <a:stretch xmlns:a="http://schemas.openxmlformats.org/drawingml/2006/main"/>
        </p:blipFill>
        <p:spPr>
          <a:xfrm xmlns:a="http://schemas.openxmlformats.org/drawingml/2006/main">
            <a:off x="361950" y="2043545"/>
            <a:ext cx="7239000" cy="296140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F5A519-BA70-45B7-8DB3-6273422CC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57400"/>
            <a:ext cx="381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RMSE por categoría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B1E367-A606-4597-95F1-950B3D12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717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4B5563"/>
                </a:solidFill>
                <a:latin typeface="Arial"/>
                <a:ea typeface="Arial"/>
                <a:cs typeface="Arial"/>
              </a:rPr>
              <a:t>Categoría          LSTM       Hace 7 días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ACCED0-E8FE-4D78-B24A-17438DBF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3847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Bebidas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10B99-AB8D-41C8-B8EA-24CD96A7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38475"/>
            <a:ext cx="904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defPPr>
            <a:lvl1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1pPr>
            <a:lvl2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2pPr>
            <a:lvl3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3pPr>
            <a:lvl4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4pPr>
            <a:lvl5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5pPr>
            <a:lvl6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6pPr>
            <a:lvl7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7pPr>
            <a:lvl8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8pPr>
            <a:lvl9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35"/>
                </a:solidFill>
                <a:latin typeface="Arial"/>
                <a:ea typeface="Arial"/>
                <a:cs typeface="Arial"/>
              </a:rPr>
              <a:t>1913.2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A4FEA6-6285-4E25-94D7-B8F2A7CD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038475"/>
            <a:ext cx="1000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2337.0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1F29F-BB5B-4ECD-B721-858F3A55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3377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Lácteos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7A0E2E-C92A-498D-83EB-1CAF893C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33775"/>
            <a:ext cx="904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defPPr>
            <a:lvl1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1pPr>
            <a:lvl2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2pPr>
            <a:lvl3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3pPr>
            <a:lvl4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4pPr>
            <a:lvl5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5pPr>
            <a:lvl6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6pPr>
            <a:lvl7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7pPr>
            <a:lvl8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8pPr>
            <a:lvl9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35"/>
                </a:solidFill>
                <a:latin typeface="Arial"/>
                <a:ea typeface="Arial"/>
                <a:cs typeface="Arial"/>
              </a:rPr>
              <a:t>463.1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859B2C-90AC-419F-B850-29CF381D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533775"/>
            <a:ext cx="1000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319.8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822CC1-AC36-4CF9-AF3A-65C1F5AD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2907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Frutas/verd.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2DE9A6-5ECC-4350-B782-AABF1DC5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29075"/>
            <a:ext cx="904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defPPr>
            <a:lvl1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1pPr>
            <a:lvl2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2pPr>
            <a:lvl3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3pPr>
            <a:lvl4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4pPr>
            <a:lvl5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5pPr>
            <a:lvl6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6pPr>
            <a:lvl7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7pPr>
            <a:lvl8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8pPr>
            <a:lvl9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35"/>
                </a:solidFill>
                <a:latin typeface="Arial"/>
                <a:ea typeface="Arial"/>
                <a:cs typeface="Arial"/>
              </a:rPr>
              <a:t>1955.9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AF7112-CC2E-495D-ABA9-7BD86AA8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029075"/>
            <a:ext cx="1000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1044.8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51EEF3-9A1F-4392-ACCC-59F42449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67250"/>
            <a:ext cx="37623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En dos categorías, repetir la venta de hace siete días obtiene menos error.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6D017A-C8EC-4415-81D1-FB636583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67375"/>
            <a:ext cx="10763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LSTM(50) + Dense(1), ventana de 6 días y 50 épocas. Entrenamiento: primeras 8 semanas.</a:t>
            </a:r>
          </a:p>
          <a:p xmlns:a="http://schemas.openxmlformats.org/drawingml/2006/main">
            <a: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Escaladores ajustados solo con entrenamiento. La referencia semanal usa datos anteriores.</a:t>
            </a:r>
          </a:p>
        </p:txBody>
      </p:sp>
    </p:spTree>
    <p:extLst>
      <p:ext uri="{BB962C8B-B14F-4D97-AF65-F5344CB8AC3E}">
        <p14:creationId xmlns:p14="http://schemas.microsoft.com/office/powerpoint/2010/main" val="20714744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65B2B5-2F96-4907-A77B-E5C036F9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11144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Dos funciones para estimar la demanda del día siguiente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9A7722-9B92-4E76-A077-AF4C9F52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1112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stock usa las ventas reales como objetivo para estimar cuánta demanda cubrir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99BA5A-C022-4345-A5C4-A10EF6EB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7/7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D92D8-E7D8-40E7-A84D-01D9B7F1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62150"/>
            <a:ext cx="581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35"/>
                </a:solidFill>
                <a:latin typeface="Arial"/>
                <a:ea typeface="Arial"/>
                <a:cs typeface="Arial"/>
              </a:rPr>
              <a:t>1. predecir(...)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25D6B3-F925-4827-8E5B-726A9968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Una categoría, con variables, ventana y horizonte elegibles.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90E181-CCC1-41D4-B3EA-FA5E00F08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86150"/>
            <a:ext cx="619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35"/>
                </a:solidFill>
                <a:latin typeface="Arial"/>
                <a:ea typeface="Arial"/>
                <a:cs typeface="Arial"/>
              </a:rPr>
              <a:t>2. predecir_categorias(...)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9AE07B-3126-423D-A59B-A5B71640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5619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Aplica predecir a varias categorías y devuelve una tabla. Reutiliza los modelos entrenados.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CC39A4-BDF8-4018-BDD9-ED6074BF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943100"/>
            <a:ext cx="4429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D40"/>
                </a:solidFill>
                <a:latin typeface="Arial"/>
                <a:ea typeface="Arial"/>
                <a:cs typeface="Arial"/>
              </a:rPr>
              <a:t>Estimación para el 14/08/2017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EB557B-C8FA-421F-9FA2-D063299B4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1462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Bebidas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756086-65F7-44A0-A8C0-25FEF81E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14625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91C35"/>
                </a:solidFill>
                <a:latin typeface="Arial"/>
                <a:ea typeface="Arial"/>
                <a:cs typeface="Arial"/>
              </a:rPr>
              <a:t>10.602,2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14263-3242-4D29-BABC-AC0236FF3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Lácteos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970BFD-E78C-4F50-8D3F-9111B4D5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33750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91C35"/>
                </a:solidFill>
                <a:latin typeface="Arial"/>
                <a:ea typeface="Arial"/>
                <a:cs typeface="Arial"/>
              </a:rPr>
              <a:t>2.720,9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CA2366-DDC5-4176-B39B-2DE7A8AB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5287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02D4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02D40"/>
                </a:solidFill>
                <a:latin typeface="Arial"/>
                <a:ea typeface="Arial"/>
                <a:cs typeface="Arial"/>
              </a:rPr>
              <a:t>Frutas/verd.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839CA0-D4AC-46DB-9CD0-5D71EA2A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952875"/>
            <a:ext cx="1952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B91C3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B91C35"/>
                </a:solidFill>
                <a:latin typeface="Arial"/>
                <a:ea typeface="Arial"/>
                <a:cs typeface="Arial"/>
              </a:rPr>
              <a:t>9.809,7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034CD3-31BA-4429-9B67-08390CA4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La cobertura estimada no incorpora existencias disponibles, reposiciones, plazos de entrega ni stock de seguridad.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18E548-44FD-4338-9B04-B041415F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76950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Fuente: </a:t>
            </a:r>
            <a:r>
              <a:rPr sz="1350" b="0">
                <a:solidFill>
                  <a:srgbClr val="4B5563"/>
                </a:solidFill>
                <a:latin typeface="Arial"/>
                <a:ea typeface="Arial"/>
                <a:cs typeface="Arial"/>
                <a:hlinkClick xmlns:r="http://schemas.openxmlformats.org/officeDocument/2006/relationships" r:id="R0c5e34c7a0244d5d"/>
              </a:rPr>
              <a:t>kaggle.com/competitions/store-sales-time-series-forecasting/data</a:t>
            </a:r>
          </a:p>
          <a:p xmlns:a="http://schemas.openxmlformats.org/drawingml/2006/main">
            <a:pPr>
              <a:defRPr sz="1350" b="0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B5563"/>
                </a:solidFill>
                <a:latin typeface="Arial"/>
                <a:ea typeface="Arial"/>
                <a:cs typeface="Arial"/>
              </a:rPr>
              <a:t>Datos, filtro y procedencia: sección Referencias de RNN_LSTM_Stock.ipynb.</a:t>
            </a:r>
          </a:p>
        </p:txBody>
      </p:sp>
    </p:spTree>
    <p:extLst>
      <p:ext uri="{BB962C8B-B14F-4D97-AF65-F5344CB8AC3E}">
        <p14:creationId xmlns:p14="http://schemas.microsoft.com/office/powerpoint/2010/main" val="12975361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2026-10-23T18:47:20.6110000Z</dcterms:created>
  <dcterms:modified xsi:type="dcterms:W3CDTF">2026-10-23T18:47:20.6110000Z</dcterms:modified>
</coreProperties>
</file>